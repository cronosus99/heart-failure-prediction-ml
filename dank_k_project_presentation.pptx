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Heart Failure Prediction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 marL="0" indent="0" algn="ctr">
              <a:buNone/>
            </a:pPr>
            <a:r>
              <a:rPr dirty="0"/>
              <a:t>Kevin Danh</a:t>
            </a:r>
          </a:p>
          <a:p>
            <a:pPr marL="0" indent="0" algn="ctr">
              <a:buNone/>
            </a:pPr>
            <a:r>
              <a:rPr dirty="0"/>
              <a:t>Bellevue University</a:t>
            </a:r>
          </a:p>
          <a:p>
            <a:pPr marL="0" indent="0" algn="ctr">
              <a:buNone/>
            </a:pPr>
            <a:r>
              <a:rPr dirty="0"/>
              <a:t>DSC 630: Predictive Analy</a:t>
            </a:r>
            <a:r>
              <a:rPr lang="en-US" dirty="0"/>
              <a:t>tics</a:t>
            </a:r>
          </a:p>
          <a:p>
            <a:pPr marL="0" indent="0" algn="ctr">
              <a:buNone/>
            </a:pPr>
            <a:r>
              <a:rPr lang="en-US" dirty="0"/>
              <a:t>Professor Neugebauer</a:t>
            </a:r>
            <a:endParaRPr dirty="0"/>
          </a:p>
          <a:p>
            <a:pPr marL="0" indent="0" algn="ctr">
              <a:buNone/>
            </a:pPr>
            <a:r>
              <a:rPr dirty="0"/>
              <a:t>March 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Heart failure is a major cause of mortality worldwide.</a:t>
            </a:r>
          </a:p>
          <a:p>
            <a:r>
              <a:rPr dirty="0"/>
              <a:t>Machine learning models can analyze clinical data to identify high‑risk patients.</a:t>
            </a:r>
          </a:p>
          <a:p>
            <a:r>
              <a:rPr dirty="0"/>
              <a:t>Early prediction can help healthcare providers intervene earlier and improve outcomes.</a:t>
            </a:r>
            <a:endParaRPr lang="en-US" dirty="0"/>
          </a:p>
          <a:p>
            <a:r>
              <a:rPr lang="en-US" dirty="0"/>
              <a:t>The goal is to identify patterns that signal high-risk patients.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Problem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Heart failure has high mortality rates.</a:t>
            </a:r>
          </a:p>
          <a:p>
            <a:r>
              <a:t>Early identification of risk can improve patient monitoring.</a:t>
            </a:r>
          </a:p>
          <a:p>
            <a:r>
              <a:t>Predictive analytics can support clinical decision-making.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Stakeholders / Who Would 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Hospitals and healthcare systems</a:t>
            </a:r>
          </a:p>
          <a:p>
            <a:r>
              <a:t>Cardiologists and clinicians</a:t>
            </a:r>
          </a:p>
          <a:p>
            <a:r>
              <a:t>Medical researchers</a:t>
            </a:r>
          </a:p>
          <a:p>
            <a:r>
              <a:t>Health technology companies developing clinical decision tools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Heart Failure Clinical Records Dataset</a:t>
            </a:r>
          </a:p>
          <a:p>
            <a:r>
              <a:t>Source: Kaggle</a:t>
            </a:r>
          </a:p>
          <a:p>
            <a:r>
              <a:t>Originally published by Chicco &amp; Jurman (2020)</a:t>
            </a:r>
          </a:p>
          <a:p>
            <a:r>
              <a:t>BMC Medical Informatics and Decision Making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Data Is Useful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Contains 299 patient records.</a:t>
            </a:r>
          </a:p>
          <a:p>
            <a:r>
              <a:rPr dirty="0"/>
              <a:t>Includes 12 clinical features such as:</a:t>
            </a:r>
          </a:p>
          <a:p>
            <a:pPr lvl="1"/>
            <a:r>
              <a:rPr dirty="0"/>
              <a:t>Age, ejection fraction, serum creatinine, serum sodium, and follow‑up time.</a:t>
            </a:r>
          </a:p>
          <a:p>
            <a:r>
              <a:rPr dirty="0"/>
              <a:t>Includes target variable DEATH_EVENT indicating patient outcome.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Histograms and boxplots were used to examine distributions.</a:t>
            </a:r>
          </a:p>
          <a:p>
            <a:r>
              <a:t>Correlation heatmap showed relationships between clinical variables.</a:t>
            </a:r>
          </a:p>
          <a:p>
            <a:r>
              <a:t>Pair plots helped visualize relationships with the death event variable.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From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Some variables had skewed distributions.</a:t>
            </a:r>
          </a:p>
          <a:p>
            <a:r>
              <a:rPr dirty="0"/>
              <a:t>Creatinine phosphokinase and serum creatinine had extreme outliers</a:t>
            </a:r>
            <a:r>
              <a:rPr lang="en-US" dirty="0"/>
              <a:t>.</a:t>
            </a:r>
          </a:p>
          <a:p>
            <a:r>
              <a:rPr lang="en-US" dirty="0"/>
              <a:t>DEATH_EVENT contains more alive.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Checked for numeric data and missing values.</a:t>
            </a:r>
          </a:p>
          <a:p>
            <a:r>
              <a:t>Applied log transformation to highly skewed variables.</a:t>
            </a:r>
          </a:p>
          <a:p>
            <a:r>
              <a:t>Scaled continuous features using StandardScaler.</a:t>
            </a:r>
          </a:p>
          <a:p>
            <a:r>
              <a:t>Binary features remained unchanged.</a:t>
            </a:r>
          </a:p>
          <a:p>
            <a:r>
              <a:t>Used stratified train/test split to maintain class balance.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Logistic Regression (baseline model)</a:t>
            </a:r>
          </a:p>
          <a:p>
            <a:r>
              <a:t>Random Forest Classifier</a:t>
            </a:r>
          </a:p>
          <a:p>
            <a:r>
              <a:t>Gradient Boosting Model</a:t>
            </a:r>
          </a:p>
          <a:p>
            <a:r>
              <a:t>All models trained on the same training/testing split.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</a:t>
            </a:r>
          </a:p>
          <a:p>
            <a:r>
              <a:t>Recall</a:t>
            </a:r>
          </a:p>
          <a:p>
            <a:r>
              <a:t>Precision</a:t>
            </a:r>
          </a:p>
          <a:p>
            <a:r>
              <a:t>F1-score</a:t>
            </a:r>
          </a:p>
          <a:p>
            <a:r>
              <a:t>ROC-AUC</a:t>
            </a:r>
          </a:p>
          <a:p>
            <a:r>
              <a:t>Confusion Matrix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These Metrics Were Chosen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has class imbalance (more survivors than deaths).</a:t>
            </a:r>
          </a:p>
          <a:p>
            <a:r>
              <a:t>Recall is important to detect high‑risk patients.</a:t>
            </a:r>
          </a:p>
          <a:p>
            <a:r>
              <a:t>F1-score balances precision and recall.</a:t>
            </a:r>
          </a:p>
          <a:p>
            <a:r>
              <a:t>ROC-AUC measures overall classification performance.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Logistic Regression Accuracy: 0.85</a:t>
            </a:r>
          </a:p>
          <a:p>
            <a:r>
              <a:t>Random Forest Accuracy: 0.88</a:t>
            </a:r>
          </a:p>
          <a:p>
            <a:r>
              <a:t>Gradient Boosting Accuracy: 0.88</a:t>
            </a:r>
          </a:p>
          <a:p>
            <a:r>
              <a:t>Gradient Boosting achieved the highest ROC-AUC.</a:t>
            </a:r>
          </a:p>
          <a:p>
            <a:r>
              <a:t>Tree models slightly outperformed logistic regression.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can successfully identify patients at higher risk.</a:t>
            </a:r>
          </a:p>
          <a:p>
            <a:r>
              <a:t>Tree-based models captured nonlinear relationships.</a:t>
            </a:r>
          </a:p>
          <a:p>
            <a:r>
              <a:t>Random Forest provided consistent and reliable predictions.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Random Forest as the primary model.</a:t>
            </a:r>
          </a:p>
          <a:p>
            <a:r>
              <a:t>Use Gradient Boosting as a secondary comparison model.</a:t>
            </a:r>
          </a:p>
          <a:p>
            <a:r>
              <a:t>Continue collecting more patient data to improve reliability.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dataset is small.</a:t>
            </a:r>
          </a:p>
          <a:p>
            <a:r>
              <a:t>More validation is needed before clinical use.</a:t>
            </a:r>
          </a:p>
          <a:p>
            <a:r>
              <a:t>External datasets would strengthen model reliability.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should not replace medical diagnosis.</a:t>
            </a:r>
          </a:p>
          <a:p>
            <a:r>
              <a:t>Bias in data could affect predictions.</a:t>
            </a:r>
          </a:p>
          <a:p>
            <a:r>
              <a:t>Results must be presented carefully to avoid misinterpretation.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Mitigating Ethical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diverse datasets to reduce bias.</a:t>
            </a:r>
          </a:p>
          <a:p>
            <a:r>
              <a:t>Perform extensive validation.</a:t>
            </a:r>
          </a:p>
          <a:p>
            <a:r>
              <a:t>Ensure models are used only as decision support tools.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 dataset with additional patient records.</a:t>
            </a:r>
          </a:p>
          <a:p>
            <a:r>
              <a:t>Test additional models.</a:t>
            </a:r>
          </a:p>
          <a:p>
            <a:r>
              <a:t>Incorporate treatment data and patient history for stronger predictions.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530</Words>
  <Application>Microsoft Office PowerPoint</Application>
  <PresentationFormat>On-screen Show (4:3)</PresentationFormat>
  <Paragraphs>92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Heart Failure Prediction</vt:lpstr>
      <vt:lpstr>Introduction</vt:lpstr>
      <vt:lpstr>Why This Problem Matters</vt:lpstr>
      <vt:lpstr>Stakeholders / Who Would Care</vt:lpstr>
      <vt:lpstr>Data Source</vt:lpstr>
      <vt:lpstr>Why This Data Is Useful</vt:lpstr>
      <vt:lpstr>Exploratory Data Analysis</vt:lpstr>
      <vt:lpstr>Key Insights From Exploration</vt:lpstr>
      <vt:lpstr>Data Preparation Steps</vt:lpstr>
      <vt:lpstr>Modeling Methods</vt:lpstr>
      <vt:lpstr>Evaluation Metrics</vt:lpstr>
      <vt:lpstr>Why These Metrics Were Chosen</vt:lpstr>
      <vt:lpstr>Results Summary</vt:lpstr>
      <vt:lpstr>Conclusion</vt:lpstr>
      <vt:lpstr>Recommendations</vt:lpstr>
      <vt:lpstr>Deployment Considerations</vt:lpstr>
      <vt:lpstr>Ethical Considerations</vt:lpstr>
      <vt:lpstr>Mitigating Ethical Risks</vt:lpstr>
      <vt:lpstr>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Kevin Danh</cp:lastModifiedBy>
  <cp:revision>6</cp:revision>
  <dcterms:created xsi:type="dcterms:W3CDTF">2013-01-27T09:14:16Z</dcterms:created>
  <dcterms:modified xsi:type="dcterms:W3CDTF">2026-03-09T00:27:13Z</dcterms:modified>
  <cp:category/>
</cp:coreProperties>
</file>